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88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F6B98-EA64-DAC6-303F-364B8AB7A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546E3-79CB-3CFA-F8E8-BBCA943F0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AB423-6DB3-DDA8-EB8A-21F399F44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23E43-F4F9-456D-8237-E1691A0AB98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3CB8D-94A2-882A-876A-8BF6AC9D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7084C-B037-8DDA-1498-DBD554A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7F-A32B-44FC-8A32-2775C936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12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75CD8-D256-C9B6-D7F3-E5DA2CC2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33A1D-442F-038F-EABF-A017ECF00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003DE-7588-86DA-85C4-C6AA68138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23E43-F4F9-456D-8237-E1691A0AB98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5E40B-FF4F-D9DE-D738-E9DBC64B8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EC739-576A-F8A0-C73D-C48A969F3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7F-A32B-44FC-8A32-2775C936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03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43D4F-6DE6-6EEA-4A72-E31982F29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82784-BDCA-FB8C-DC33-4C70BBA9D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7EA06-4262-E2C6-E23B-9523557AF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23E43-F4F9-456D-8237-E1691A0AB98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7D15E-D9CF-D6C3-C396-1C2F7D5AD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6048A-FBE7-121C-E4B1-074D4509D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7F-A32B-44FC-8A32-2775C936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75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A698E-0AD9-576D-1B87-4F8E1F90A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2639-A338-FA1F-0430-0EB439CC3A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DCEDB2-48A3-80CC-1E7B-5FA698C4C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0E0B8-EAD7-A95A-8F74-D1CF30910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23E43-F4F9-456D-8237-E1691A0AB98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B1B99-DFD7-1BB8-A8CE-7CF0F5250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5F3A9-62D2-F84E-323E-31CDF37E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7F-A32B-44FC-8A32-2775C936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14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67B6A-CEA2-3D8E-9F51-0E88C5246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64D4C-722D-5F67-F7BC-C8621C211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0061F2-13BF-A905-4D4C-7E91EAEA7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9F6AFA-5C42-C022-D41D-411FD491B3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873BD-952A-B07E-15A8-329243F79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B193F1-E50E-FEBF-B2BB-F7B9EAB31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23E43-F4F9-456D-8237-E1691A0AB98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31B9F7-BE20-7478-6FDF-04B53A2BF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D25305-239E-964A-40E8-26298BED1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7F-A32B-44FC-8A32-2775C936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53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D936C-63A4-ACDC-CFA2-2EC1620D8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F3A9F-142A-F166-85FE-1101B60D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23E43-F4F9-456D-8237-E1691A0AB98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8A14-7034-79F6-D6D6-6F10AE20F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BDD52E-C47A-A9E0-D9B6-0B47F5BAC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7F-A32B-44FC-8A32-2775C936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807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A26C5E-E2B5-A7F5-ED69-6E6BD7892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23E43-F4F9-456D-8237-E1691A0AB98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C85632-32E4-5E15-9BAE-DDA84B10F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ED0D8-580B-3F1C-F6DD-5B4F648F4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7F-A32B-44FC-8A32-2775C936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55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FF115-AF2D-2B88-D3B4-1162492D3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997CB-1615-CE8E-CAD8-BDFCFFD7D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941CD8-D96E-895E-D195-D46865A50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AE039-432B-0B14-21FC-08408E1D6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23E43-F4F9-456D-8237-E1691A0AB98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1888E-82FC-81C9-C1B7-B6A81B96C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7B9480-75C0-FACA-DC16-B28DB284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7F-A32B-44FC-8A32-2775C936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015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C13A-60F5-0034-F10F-E1178F7D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D3BB56-77EE-0A6E-8C9F-CFBCDA940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F5B11-FA0A-9D3A-9031-39F495F78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E1B16-AF60-CC2E-2125-AF13EA880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23E43-F4F9-456D-8237-E1691A0AB98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8E73E-9790-EF63-6393-A63F69452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26B15C-9E7A-29BE-BC2F-B24CA6F8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7F-A32B-44FC-8A32-2775C936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31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0072D-3DCE-A129-E43A-DCD4B09C5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AC12BA-0079-FBDD-5E67-1D72B2E84E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22148-EC0C-7EEC-33B5-43EAC5D22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23E43-F4F9-456D-8237-E1691A0AB98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8F71A-3091-C88A-BCC5-9BCEEC868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11009-00ED-086C-04B2-D09575AB5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7F-A32B-44FC-8A32-2775C936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56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EFFC41-3E4A-7AF3-335B-0B1AE1687F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18A7A-624D-34C8-9FBC-168B11C86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02DB4-084C-2628-0266-F0C27D2F2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23E43-F4F9-456D-8237-E1691A0AB98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EBD3D-A46A-D8AE-345F-3D1CF3FC7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8CCE4-ABAA-B44A-722B-784FF2C86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7F-A32B-44FC-8A32-2775C936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77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2D8EDE-2CE7-38A3-5098-9B9135913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4B47D-B548-E1A2-DE97-035B0714C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7DEE0-D83D-9973-8925-369742ED0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23E43-F4F9-456D-8237-E1691A0AB98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FC00B-944D-2496-4E68-CF8865723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F0478-FACA-70F6-084E-EDC03EBB8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1547F-A32B-44FC-8A32-2775C936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2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265D49F-3466-013D-AC86-099E953B1AA7}"/>
              </a:ext>
            </a:extLst>
          </p:cNvPr>
          <p:cNvSpPr/>
          <p:nvPr/>
        </p:nvSpPr>
        <p:spPr>
          <a:xfrm>
            <a:off x="1050235" y="2851265"/>
            <a:ext cx="2160104" cy="57323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simu.single.arm</a:t>
            </a:r>
            <a:endParaRPr lang="en-US" dirty="0"/>
          </a:p>
          <a:p>
            <a:pPr algn="ctr"/>
            <a:r>
              <a:rPr lang="en-US" sz="1200" dirty="0">
                <a:solidFill>
                  <a:schemeClr val="accent5"/>
                </a:solidFill>
              </a:rPr>
              <a:t>Sampling OS based on ORR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2BBF47D-BE63-02C6-F2DC-C8F8DDDB9E07}"/>
              </a:ext>
            </a:extLst>
          </p:cNvPr>
          <p:cNvSpPr/>
          <p:nvPr/>
        </p:nvSpPr>
        <p:spPr>
          <a:xfrm>
            <a:off x="1050235" y="3532444"/>
            <a:ext cx="2160104" cy="57323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simu.single.arm.hz</a:t>
            </a:r>
            <a:endParaRPr lang="en-US" dirty="0"/>
          </a:p>
          <a:p>
            <a:pPr algn="ctr"/>
            <a:r>
              <a:rPr lang="en-US" sz="1200" dirty="0">
                <a:solidFill>
                  <a:schemeClr val="accent5"/>
                </a:solidFill>
              </a:rPr>
              <a:t>Sampling OS based on ORR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1E4763-2DCF-D5F1-3709-1B9A02AC6CA7}"/>
              </a:ext>
            </a:extLst>
          </p:cNvPr>
          <p:cNvSpPr/>
          <p:nvPr/>
        </p:nvSpPr>
        <p:spPr>
          <a:xfrm>
            <a:off x="1073426" y="1431235"/>
            <a:ext cx="2160104" cy="82163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simu.p23trial</a:t>
            </a:r>
          </a:p>
          <a:p>
            <a:pPr algn="ctr"/>
            <a:r>
              <a:rPr lang="en-US" sz="1400" dirty="0">
                <a:solidFill>
                  <a:schemeClr val="accent5"/>
                </a:solidFill>
              </a:rPr>
              <a:t>Simulate a p23 trial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783F33-0C6D-5FF6-6A8B-DC7D60CD021B}"/>
              </a:ext>
            </a:extLst>
          </p:cNvPr>
          <p:cNvSpPr/>
          <p:nvPr/>
        </p:nvSpPr>
        <p:spPr>
          <a:xfrm>
            <a:off x="3889513" y="1431232"/>
            <a:ext cx="2160104" cy="82163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conduct.p23</a:t>
            </a:r>
          </a:p>
          <a:p>
            <a:pPr algn="ctr"/>
            <a:r>
              <a:rPr lang="en-US" sz="1400" dirty="0">
                <a:solidFill>
                  <a:schemeClr val="accent5"/>
                </a:solidFill>
              </a:rPr>
              <a:t>Dose selection, generate z1, z2, w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EA671D2-9673-11F6-3249-8261E2084D83}"/>
              </a:ext>
            </a:extLst>
          </p:cNvPr>
          <p:cNvSpPr/>
          <p:nvPr/>
        </p:nvSpPr>
        <p:spPr>
          <a:xfrm>
            <a:off x="3889513" y="2854184"/>
            <a:ext cx="2160104" cy="3569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select.dose.p23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79DB70-4CA5-62D4-3730-BA75D19E1E7D}"/>
              </a:ext>
            </a:extLst>
          </p:cNvPr>
          <p:cNvSpPr/>
          <p:nvPr/>
        </p:nvSpPr>
        <p:spPr>
          <a:xfrm>
            <a:off x="6705600" y="1431231"/>
            <a:ext cx="2160104" cy="82163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comb.pvalue.p23</a:t>
            </a:r>
          </a:p>
          <a:p>
            <a:pPr algn="ctr"/>
            <a:r>
              <a:rPr lang="en-US" sz="1400" dirty="0">
                <a:solidFill>
                  <a:schemeClr val="accent5"/>
                </a:solidFill>
              </a:rPr>
              <a:t>P value combination &amp; CTP procedure</a:t>
            </a:r>
            <a:endParaRPr lang="en-US" sz="1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D33BA1-239E-A63F-E80D-4CA81D35D48F}"/>
              </a:ext>
            </a:extLst>
          </p:cNvPr>
          <p:cNvSpPr/>
          <p:nvPr/>
        </p:nvSpPr>
        <p:spPr>
          <a:xfrm>
            <a:off x="9448800" y="1424630"/>
            <a:ext cx="2160104" cy="82163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gsd.power</a:t>
            </a:r>
            <a:endParaRPr lang="en-US" dirty="0"/>
          </a:p>
          <a:p>
            <a:pPr algn="ctr"/>
            <a:r>
              <a:rPr lang="en-US" sz="1400" dirty="0">
                <a:solidFill>
                  <a:schemeClr val="accent5"/>
                </a:solidFill>
              </a:rPr>
              <a:t>Cumulative power in GSD</a:t>
            </a:r>
            <a:endParaRPr lang="en-US" sz="1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4368E9-BC68-9EDB-C5D5-847D2E535CAB}"/>
              </a:ext>
            </a:extLst>
          </p:cNvPr>
          <p:cNvSpPr/>
          <p:nvPr/>
        </p:nvSpPr>
        <p:spPr>
          <a:xfrm>
            <a:off x="5055704" y="181793"/>
            <a:ext cx="2425148" cy="728063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simu.power.p23</a:t>
            </a:r>
          </a:p>
          <a:p>
            <a:pPr algn="ctr"/>
            <a:r>
              <a:rPr lang="en-US" sz="1400" dirty="0"/>
              <a:t>Power by simulations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A2D52F-0C6F-7350-0652-2041BD83F097}"/>
              </a:ext>
            </a:extLst>
          </p:cNvPr>
          <p:cNvSpPr/>
          <p:nvPr/>
        </p:nvSpPr>
        <p:spPr>
          <a:xfrm>
            <a:off x="1073426" y="4807217"/>
            <a:ext cx="2160104" cy="45223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genSurv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AEF6E6-A14F-4C93-D136-40E86A3AC8A0}"/>
              </a:ext>
            </a:extLst>
          </p:cNvPr>
          <p:cNvSpPr/>
          <p:nvPr/>
        </p:nvSpPr>
        <p:spPr>
          <a:xfrm>
            <a:off x="1073426" y="5375441"/>
            <a:ext cx="2160104" cy="45223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f.nEachMonth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5094CD-AA5B-23EC-2EA0-E631FEA2B8BF}"/>
              </a:ext>
            </a:extLst>
          </p:cNvPr>
          <p:cNvSpPr/>
          <p:nvPr/>
        </p:nvSpPr>
        <p:spPr>
          <a:xfrm>
            <a:off x="1073426" y="5945285"/>
            <a:ext cx="2160104" cy="45223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f.dataCut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9DDFBE-235E-662D-B541-BAA3220A2C0B}"/>
              </a:ext>
            </a:extLst>
          </p:cNvPr>
          <p:cNvSpPr/>
          <p:nvPr/>
        </p:nvSpPr>
        <p:spPr>
          <a:xfrm>
            <a:off x="788504" y="2776329"/>
            <a:ext cx="2683566" cy="1403088"/>
          </a:xfrm>
          <a:prstGeom prst="rect">
            <a:avLst/>
          </a:prstGeom>
          <a:noFill/>
          <a:ln>
            <a:solidFill>
              <a:srgbClr val="CC009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43611E-7B2C-022D-936E-73D6AD492A01}"/>
              </a:ext>
            </a:extLst>
          </p:cNvPr>
          <p:cNvSpPr/>
          <p:nvPr/>
        </p:nvSpPr>
        <p:spPr>
          <a:xfrm>
            <a:off x="960781" y="4710313"/>
            <a:ext cx="2372141" cy="1816376"/>
          </a:xfrm>
          <a:prstGeom prst="rect">
            <a:avLst/>
          </a:prstGeom>
          <a:noFill/>
          <a:ln>
            <a:solidFill>
              <a:srgbClr val="CC0099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3C01F2-ACEB-5E9F-FC0F-69ACC7C9167C}"/>
              </a:ext>
            </a:extLst>
          </p:cNvPr>
          <p:cNvSpPr/>
          <p:nvPr/>
        </p:nvSpPr>
        <p:spPr>
          <a:xfrm>
            <a:off x="848138" y="1310315"/>
            <a:ext cx="10939671" cy="1050266"/>
          </a:xfrm>
          <a:prstGeom prst="rect">
            <a:avLst/>
          </a:prstGeom>
          <a:noFill/>
          <a:ln>
            <a:solidFill>
              <a:srgbClr val="CC009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2B0BF4-50CB-8A6A-0C92-2CFD39F94FC5}"/>
              </a:ext>
            </a:extLst>
          </p:cNvPr>
          <p:cNvSpPr/>
          <p:nvPr/>
        </p:nvSpPr>
        <p:spPr>
          <a:xfrm>
            <a:off x="3700667" y="2763077"/>
            <a:ext cx="2683566" cy="1417982"/>
          </a:xfrm>
          <a:prstGeom prst="rect">
            <a:avLst/>
          </a:prstGeom>
          <a:noFill/>
          <a:ln>
            <a:solidFill>
              <a:srgbClr val="CC009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D409AEF-B5B5-33D5-2174-972254308FB7}"/>
              </a:ext>
            </a:extLst>
          </p:cNvPr>
          <p:cNvSpPr/>
          <p:nvPr/>
        </p:nvSpPr>
        <p:spPr>
          <a:xfrm>
            <a:off x="3889513" y="3302237"/>
            <a:ext cx="2160104" cy="3569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f.dataCut</a:t>
            </a:r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335F8C8-FDC2-3F56-02B2-147F54672CBB}"/>
              </a:ext>
            </a:extLst>
          </p:cNvPr>
          <p:cNvSpPr/>
          <p:nvPr/>
        </p:nvSpPr>
        <p:spPr>
          <a:xfrm>
            <a:off x="3889513" y="3730486"/>
            <a:ext cx="2160104" cy="3569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logrank.one.sided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441389-C294-BD33-CC80-786A80C6137A}"/>
              </a:ext>
            </a:extLst>
          </p:cNvPr>
          <p:cNvSpPr/>
          <p:nvPr/>
        </p:nvSpPr>
        <p:spPr>
          <a:xfrm>
            <a:off x="3700667" y="4709449"/>
            <a:ext cx="2683566" cy="1104973"/>
          </a:xfrm>
          <a:prstGeom prst="rect">
            <a:avLst/>
          </a:prstGeom>
          <a:noFill/>
          <a:ln>
            <a:solidFill>
              <a:srgbClr val="CC0099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ED27730-F368-E3C5-5466-0D837C2E3B6E}"/>
              </a:ext>
            </a:extLst>
          </p:cNvPr>
          <p:cNvSpPr/>
          <p:nvPr/>
        </p:nvSpPr>
        <p:spPr>
          <a:xfrm>
            <a:off x="3889513" y="4851160"/>
            <a:ext cx="2160104" cy="3569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f.dataCut</a:t>
            </a:r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E35AF11-4827-66F0-50AA-F22884E73863}"/>
              </a:ext>
            </a:extLst>
          </p:cNvPr>
          <p:cNvSpPr/>
          <p:nvPr/>
        </p:nvSpPr>
        <p:spPr>
          <a:xfrm>
            <a:off x="3889513" y="5279409"/>
            <a:ext cx="2160104" cy="3569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logrank.one.sided</a:t>
            </a:r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2E376AC-44B0-9FD5-E73E-CB5A4E06EE7C}"/>
              </a:ext>
            </a:extLst>
          </p:cNvPr>
          <p:cNvSpPr/>
          <p:nvPr/>
        </p:nvSpPr>
        <p:spPr>
          <a:xfrm>
            <a:off x="6874561" y="2817773"/>
            <a:ext cx="2160104" cy="61536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simes</a:t>
            </a:r>
            <a:endParaRPr lang="en-US" dirty="0"/>
          </a:p>
          <a:p>
            <a:pPr algn="ctr"/>
            <a:r>
              <a:rPr lang="en-US" sz="1200" dirty="0" err="1">
                <a:solidFill>
                  <a:schemeClr val="accent5"/>
                </a:solidFill>
              </a:rPr>
              <a:t>Simes</a:t>
            </a:r>
            <a:r>
              <a:rPr lang="en-US" sz="1200" dirty="0">
                <a:solidFill>
                  <a:schemeClr val="accent5"/>
                </a:solidFill>
              </a:rPr>
              <a:t> multiplicity adjustment for H_J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1B334B-E03A-5BE6-FE5E-BE88AB8CA11E}"/>
              </a:ext>
            </a:extLst>
          </p:cNvPr>
          <p:cNvSpPr/>
          <p:nvPr/>
        </p:nvSpPr>
        <p:spPr>
          <a:xfrm>
            <a:off x="6612830" y="2769712"/>
            <a:ext cx="2683566" cy="1417982"/>
          </a:xfrm>
          <a:prstGeom prst="rect">
            <a:avLst/>
          </a:prstGeom>
          <a:noFill/>
          <a:ln>
            <a:solidFill>
              <a:srgbClr val="CC009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FD0627E8-2CC4-E35F-6667-D10F8CBBC610}"/>
              </a:ext>
            </a:extLst>
          </p:cNvPr>
          <p:cNvSpPr/>
          <p:nvPr/>
        </p:nvSpPr>
        <p:spPr>
          <a:xfrm>
            <a:off x="1941443" y="2458281"/>
            <a:ext cx="298174" cy="215360"/>
          </a:xfrm>
          <a:prstGeom prst="upArrow">
            <a:avLst/>
          </a:prstGeom>
          <a:solidFill>
            <a:srgbClr val="CC0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Up 24">
            <a:extLst>
              <a:ext uri="{FF2B5EF4-FFF2-40B4-BE49-F238E27FC236}">
                <a16:creationId xmlns:a16="http://schemas.microsoft.com/office/drawing/2014/main" id="{3B326B59-ECCB-B48D-1FFC-AF585B315C5D}"/>
              </a:ext>
            </a:extLst>
          </p:cNvPr>
          <p:cNvSpPr/>
          <p:nvPr/>
        </p:nvSpPr>
        <p:spPr>
          <a:xfrm>
            <a:off x="1941443" y="4308588"/>
            <a:ext cx="298174" cy="215360"/>
          </a:xfrm>
          <a:prstGeom prst="upArrow">
            <a:avLst/>
          </a:prstGeom>
          <a:solidFill>
            <a:srgbClr val="CC0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Up 25">
            <a:extLst>
              <a:ext uri="{FF2B5EF4-FFF2-40B4-BE49-F238E27FC236}">
                <a16:creationId xmlns:a16="http://schemas.microsoft.com/office/drawing/2014/main" id="{5D959CD0-2D98-784B-59BA-32CBB0CBD8D4}"/>
              </a:ext>
            </a:extLst>
          </p:cNvPr>
          <p:cNvSpPr/>
          <p:nvPr/>
        </p:nvSpPr>
        <p:spPr>
          <a:xfrm>
            <a:off x="4757530" y="2445059"/>
            <a:ext cx="298174" cy="215360"/>
          </a:xfrm>
          <a:prstGeom prst="upArrow">
            <a:avLst/>
          </a:prstGeom>
          <a:solidFill>
            <a:srgbClr val="CC0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Up 26">
            <a:extLst>
              <a:ext uri="{FF2B5EF4-FFF2-40B4-BE49-F238E27FC236}">
                <a16:creationId xmlns:a16="http://schemas.microsoft.com/office/drawing/2014/main" id="{CE0346B4-61CC-EFED-DC42-5BE0A494B1E8}"/>
              </a:ext>
            </a:extLst>
          </p:cNvPr>
          <p:cNvSpPr/>
          <p:nvPr/>
        </p:nvSpPr>
        <p:spPr>
          <a:xfrm>
            <a:off x="4759186" y="4330096"/>
            <a:ext cx="298174" cy="215360"/>
          </a:xfrm>
          <a:prstGeom prst="upArrow">
            <a:avLst/>
          </a:prstGeom>
          <a:solidFill>
            <a:srgbClr val="CC0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6B4732A5-EFF3-4F0D-D423-F3626F173B92}"/>
              </a:ext>
            </a:extLst>
          </p:cNvPr>
          <p:cNvSpPr/>
          <p:nvPr/>
        </p:nvSpPr>
        <p:spPr>
          <a:xfrm>
            <a:off x="7722704" y="2481497"/>
            <a:ext cx="298174" cy="215360"/>
          </a:xfrm>
          <a:prstGeom prst="upArrow">
            <a:avLst/>
          </a:prstGeom>
          <a:solidFill>
            <a:srgbClr val="CC0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Up 28">
            <a:extLst>
              <a:ext uri="{FF2B5EF4-FFF2-40B4-BE49-F238E27FC236}">
                <a16:creationId xmlns:a16="http://schemas.microsoft.com/office/drawing/2014/main" id="{F5F9FC5A-991A-855D-5D66-27EFD4973176}"/>
              </a:ext>
            </a:extLst>
          </p:cNvPr>
          <p:cNvSpPr/>
          <p:nvPr/>
        </p:nvSpPr>
        <p:spPr>
          <a:xfrm>
            <a:off x="5996608" y="987261"/>
            <a:ext cx="695735" cy="238576"/>
          </a:xfrm>
          <a:prstGeom prst="upArrow">
            <a:avLst/>
          </a:prstGeom>
          <a:solidFill>
            <a:srgbClr val="CC0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3B2A17-85DD-36CF-D2D5-FFECCD14FBAD}"/>
              </a:ext>
            </a:extLst>
          </p:cNvPr>
          <p:cNvSpPr txBox="1"/>
          <p:nvPr/>
        </p:nvSpPr>
        <p:spPr>
          <a:xfrm>
            <a:off x="516830" y="275816"/>
            <a:ext cx="2955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 package p23 Structure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051E3DA-3531-34D9-A7F7-1CF9051DDD5F}"/>
              </a:ext>
            </a:extLst>
          </p:cNvPr>
          <p:cNvSpPr/>
          <p:nvPr/>
        </p:nvSpPr>
        <p:spPr>
          <a:xfrm>
            <a:off x="6874561" y="3543931"/>
            <a:ext cx="2160104" cy="61536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dunnett</a:t>
            </a:r>
            <a:endParaRPr lang="en-US" dirty="0"/>
          </a:p>
          <a:p>
            <a:pPr algn="ctr"/>
            <a:r>
              <a:rPr lang="en-US" sz="1200" dirty="0">
                <a:solidFill>
                  <a:schemeClr val="accent5"/>
                </a:solidFill>
              </a:rPr>
              <a:t>Dunnett multiplicity adjustment for H_J</a:t>
            </a:r>
          </a:p>
        </p:txBody>
      </p:sp>
    </p:spTree>
    <p:extLst>
      <p:ext uri="{BB962C8B-B14F-4D97-AF65-F5344CB8AC3E}">
        <p14:creationId xmlns:p14="http://schemas.microsoft.com/office/powerpoint/2010/main" val="2839200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He, Philip</dc:creator>
  <cp:lastModifiedBy>He, Philip</cp:lastModifiedBy>
  <cp:revision>3</cp:revision>
  <dcterms:created xsi:type="dcterms:W3CDTF">2026-06-29T02:44:44Z</dcterms:created>
  <dcterms:modified xsi:type="dcterms:W3CDTF">2026-06-29T02:46:16Z</dcterms:modified>
</cp:coreProperties>
</file>